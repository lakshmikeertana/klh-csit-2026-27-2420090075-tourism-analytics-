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799" y="2130425"/>
            <a:ext cx="10493477" cy="1470025"/>
          </a:xfrm>
        </p:spPr>
        <p:txBody>
          <a:bodyPr/>
          <a:lstStyle/>
          <a:p>
            <a:r>
              <a:rPr dirty="0"/>
              <a:t>Tourism Analytics Using Predictive and Descriptive Data Mining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84090" y="4082845"/>
            <a:ext cx="6400800" cy="1752600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 Batch 4</a:t>
            </a:r>
          </a:p>
          <a:p>
            <a:r>
              <a:rPr dirty="0"/>
              <a:t>G</a:t>
            </a:r>
            <a:r>
              <a:rPr lang="en-IN" dirty="0"/>
              <a:t>. Hasini – 2420030421 </a:t>
            </a:r>
          </a:p>
          <a:p>
            <a:r>
              <a:rPr lang="en-IN" dirty="0"/>
              <a:t> </a:t>
            </a:r>
            <a:r>
              <a:rPr dirty="0"/>
              <a:t>S. Rishitha – 2420090060 </a:t>
            </a:r>
            <a:br>
              <a:rPr lang="en-IN" dirty="0"/>
            </a:br>
            <a:r>
              <a:rPr dirty="0"/>
              <a:t> G. Keertana – 2420090075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Domain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Domain: Tourism &amp; Hospitality Analytics.</a:t>
            </a:r>
          </a:p>
          <a:p>
            <a:pPr>
              <a:spcAft>
                <a:spcPts val="800"/>
              </a:spcAft>
              <a:defRPr sz="1900"/>
            </a:pPr>
            <a:r>
              <a:t>Tourism demand is highly volatile due to seasonal variations, socio-economic factors, and global disruptions.</a:t>
            </a:r>
          </a:p>
          <a:p>
            <a:pPr>
              <a:spcAft>
                <a:spcPts val="800"/>
              </a:spcAft>
              <a:defRPr sz="1900"/>
            </a:pPr>
            <a:r>
              <a:t>Traditional statistical methods may not capture complex tourism patterns effectively.</a:t>
            </a:r>
          </a:p>
          <a:p>
            <a:pPr>
              <a:spcAft>
                <a:spcPts val="800"/>
              </a:spcAft>
              <a:defRPr sz="1900"/>
            </a:pPr>
            <a:r>
              <a:t>The project combines descriptive analytics to explain the past with predictive analytics to anticipate the future.</a:t>
            </a:r>
          </a:p>
          <a:p>
            <a:pPr>
              <a:spcAft>
                <a:spcPts val="800"/>
              </a:spcAft>
              <a:defRPr sz="1900"/>
            </a:pPr>
            <a:r>
              <a:t>Goal: support smarter, data-driven tourism planning and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Analyze tourism data to identify patterns, trends, and relationships.</a:t>
            </a:r>
          </a:p>
          <a:p>
            <a:pPr>
              <a:spcAft>
                <a:spcPts val="800"/>
              </a:spcAft>
              <a:defRPr sz="1900"/>
            </a:pPr>
            <a:r>
              <a:t>Use descriptive data mining for tourist segmentation and association discovery.</a:t>
            </a:r>
          </a:p>
          <a:p>
            <a:pPr>
              <a:spcAft>
                <a:spcPts val="800"/>
              </a:spcAft>
              <a:defRPr sz="1900"/>
            </a:pPr>
            <a:r>
              <a:t>Use predictive models for tourism demand, arrivals, booking behaviour, and cancellations.</a:t>
            </a:r>
          </a:p>
          <a:p>
            <a:pPr>
              <a:spcAft>
                <a:spcPts val="800"/>
              </a:spcAft>
              <a:defRPr sz="1900"/>
            </a:pPr>
            <a:r>
              <a:t>Evaluate and compare multiple models using suitable metrics.</a:t>
            </a:r>
          </a:p>
          <a:p>
            <a:pPr>
              <a:spcAft>
                <a:spcPts val="800"/>
              </a:spcAft>
              <a:defRPr sz="1900"/>
            </a:pPr>
            <a:r>
              <a:t>Provide interpretable results using SHAP, feature importance, plots, and dashboards.</a:t>
            </a:r>
          </a:p>
          <a:p>
            <a:pPr>
              <a:spcAft>
                <a:spcPts val="800"/>
              </a:spcAft>
              <a:defRPr sz="1900"/>
            </a:pPr>
            <a:r>
              <a:t>Generate actionable insights for tourism stakeholders.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Benchmark Tourism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Hotel Booking Demand Dataset – booking, cancellation, and occupancy records.</a:t>
            </a:r>
          </a:p>
          <a:p>
            <a:pPr>
              <a:spcAft>
                <a:spcPts val="800"/>
              </a:spcAft>
              <a:defRPr sz="1900"/>
            </a:pPr>
            <a:r>
              <a:t>UNWTO Tourism Statistics Database – inbound/outbound tourist arrivals and expenditure.</a:t>
            </a:r>
          </a:p>
          <a:p>
            <a:pPr>
              <a:spcAft>
                <a:spcPts val="800"/>
              </a:spcAft>
              <a:defRPr sz="1900"/>
            </a:pPr>
            <a:r>
              <a:t>New York City Airbnb Open Data – listings, pricing, and neighbourhood-level demand.</a:t>
            </a:r>
          </a:p>
          <a:p>
            <a:pPr>
              <a:spcAft>
                <a:spcPts val="800"/>
              </a:spcAft>
              <a:defRPr sz="1900"/>
            </a:pPr>
            <a:r>
              <a:t>All three benchmark datasets are considered in the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Handle missing values and inconsistent records.</a:t>
            </a:r>
          </a:p>
          <a:p>
            <a:pPr>
              <a:spcAft>
                <a:spcPts val="800"/>
              </a:spcAft>
              <a:defRPr sz="1900"/>
            </a:pPr>
            <a:r>
              <a:t>Encode categorical attributes such as country, market segment, room type, and distribution channel.</a:t>
            </a:r>
          </a:p>
          <a:p>
            <a:pPr>
              <a:spcAft>
                <a:spcPts val="800"/>
              </a:spcAft>
              <a:defRPr sz="1900"/>
            </a:pPr>
            <a:r>
              <a:t>Apply normalization / scaling where required.</a:t>
            </a:r>
          </a:p>
          <a:p>
            <a:pPr>
              <a:spcAft>
                <a:spcPts val="800"/>
              </a:spcAft>
              <a:defRPr sz="1900"/>
            </a:pPr>
            <a:r>
              <a:t>Extract month, season, holidays, and weekend features from dates.</a:t>
            </a:r>
          </a:p>
          <a:p>
            <a:pPr>
              <a:spcAft>
                <a:spcPts val="800"/>
              </a:spcAft>
              <a:defRPr sz="1900"/>
            </a:pPr>
            <a:r>
              <a:t>Perform time-series resampling and stationarity checks for ARIMA/SARIMA.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Dataset overview and data quality assessment.</a:t>
            </a:r>
          </a:p>
          <a:p>
            <a:pPr>
              <a:spcAft>
                <a:spcPts val="800"/>
              </a:spcAft>
              <a:defRPr sz="1900"/>
            </a:pPr>
            <a:r>
              <a:t>Descriptive statistics, missing-value analysis, and duplicate detection.</a:t>
            </a:r>
          </a:p>
          <a:p>
            <a:pPr>
              <a:spcAft>
                <a:spcPts val="800"/>
              </a:spcAft>
              <a:defRPr sz="1900"/>
            </a:pPr>
            <a:r>
              <a:t>Outlier detection.</a:t>
            </a:r>
          </a:p>
          <a:p>
            <a:pPr>
              <a:spcAft>
                <a:spcPts val="800"/>
              </a:spcAft>
              <a:defRPr sz="1900"/>
            </a:pPr>
            <a:r>
              <a:t>Univariate, bivariate, and multivariate analysis.</a:t>
            </a:r>
          </a:p>
          <a:p>
            <a:pPr>
              <a:spcAft>
                <a:spcPts val="800"/>
              </a:spcAft>
              <a:defRPr sz="1900"/>
            </a:pPr>
            <a:r>
              <a:t>Correlation analysis.</a:t>
            </a:r>
          </a:p>
          <a:p>
            <a:pPr>
              <a:spcAft>
                <a:spcPts val="800"/>
              </a:spcAft>
              <a:defRPr sz="1900"/>
            </a:pPr>
            <a:r>
              <a:t>Time-series trend and seasonality analysis.</a:t>
            </a:r>
          </a:p>
          <a:p>
            <a:pPr>
              <a:spcAft>
                <a:spcPts val="800"/>
              </a:spcAft>
              <a:defRPr sz="1900"/>
            </a:pPr>
            <a:r>
              <a:t>Feature engineering and feature selection.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Descriptive Data Mining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K-Means Clustering – tourist segmentation based on demographics and preferences.</a:t>
            </a:r>
          </a:p>
          <a:p>
            <a:pPr>
              <a:spcAft>
                <a:spcPts val="800"/>
              </a:spcAft>
              <a:defRPr sz="1900"/>
            </a:pPr>
            <a:r>
              <a:t>DBSCAN – density-based segmentation for irregular travel clusters.</a:t>
            </a:r>
          </a:p>
          <a:p>
            <a:pPr>
              <a:spcAft>
                <a:spcPts val="800"/>
              </a:spcAft>
              <a:defRPr sz="1900"/>
            </a:pPr>
            <a:r>
              <a:t>Apriori Algorithm – association rules for travel package combinations.</a:t>
            </a:r>
          </a:p>
          <a:p>
            <a:pPr>
              <a:spcAft>
                <a:spcPts val="800"/>
              </a:spcAft>
              <a:defRPr sz="1900"/>
            </a:pPr>
            <a:r>
              <a:t>Purpose: understand historical patterns, groups, preferences, and relationships.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Predictive Data Mining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ARIMA / SARIMA – forecasting tourist arrivals.</a:t>
            </a:r>
          </a:p>
          <a:p>
            <a:pPr>
              <a:spcAft>
                <a:spcPts val="800"/>
              </a:spcAft>
              <a:defRPr sz="1900"/>
            </a:pPr>
            <a:r>
              <a:t>Decision Tree – predicting booking behaviour and cancellations.</a:t>
            </a:r>
          </a:p>
          <a:p>
            <a:pPr>
              <a:spcAft>
                <a:spcPts val="800"/>
              </a:spcAft>
              <a:defRPr sz="1900"/>
            </a:pPr>
            <a:r>
              <a:t>Random Forest – robust prediction of booking behaviour and cancellations.</a:t>
            </a:r>
          </a:p>
          <a:p>
            <a:pPr>
              <a:spcAft>
                <a:spcPts val="800"/>
              </a:spcAft>
              <a:defRPr sz="1900"/>
            </a:pPr>
            <a:r>
              <a:t>LSTM Neural Network – capturing complex, non-linear seasonal demand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Explainability &amp;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SHAP – feature-level explanations for Decision Tree / Random Forest predictions.</a:t>
            </a:r>
          </a:p>
          <a:p>
            <a:pPr>
              <a:spcAft>
                <a:spcPts val="800"/>
              </a:spcAft>
              <a:defRPr sz="1900"/>
            </a:pPr>
            <a:r>
              <a:t>Feature Importance – identify key drivers of cancellations and demand.</a:t>
            </a:r>
          </a:p>
          <a:p>
            <a:pPr>
              <a:spcAft>
                <a:spcPts val="800"/>
              </a:spcAft>
              <a:defRPr sz="1900"/>
            </a:pPr>
            <a:r>
              <a:t>ACF / PACF plots – interpretation of ARIMA/SARIMA forecasts.</a:t>
            </a:r>
          </a:p>
          <a:p>
            <a:pPr>
              <a:spcAft>
                <a:spcPts val="800"/>
              </a:spcAft>
              <a:defRPr sz="1900"/>
            </a:pPr>
            <a:r>
              <a:t>Elbow &amp; Silhouette plots – interpretation of clustering results.</a:t>
            </a:r>
          </a:p>
          <a:p>
            <a:pPr>
              <a:spcAft>
                <a:spcPts val="800"/>
              </a:spcAft>
              <a:defRPr sz="1900"/>
            </a:pPr>
            <a:r>
              <a:t>Interactive dashboard using Tableau, Power BI, or Streamlit.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Comparative Analysis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Clustering: K-Means vs DBSCAN – Silhouette Score, Davies–Bouldin Index.</a:t>
            </a:r>
          </a:p>
          <a:p>
            <a:pPr>
              <a:spcAft>
                <a:spcPts val="800"/>
              </a:spcAft>
              <a:defRPr sz="1900"/>
            </a:pPr>
            <a:r>
              <a:t>Forecasting: ARIMA vs SARIMA vs LSTM – RMSE, MAE, MAPE.</a:t>
            </a:r>
          </a:p>
          <a:p>
            <a:pPr>
              <a:spcAft>
                <a:spcPts val="800"/>
              </a:spcAft>
              <a:defRPr sz="1900"/>
            </a:pPr>
            <a:r>
              <a:t>Classification: Decision Tree vs Random Forest – Accuracy, Precision, Recall, F1, ROC-AUC.</a:t>
            </a:r>
          </a:p>
          <a:p>
            <a:pPr>
              <a:spcAft>
                <a:spcPts val="800"/>
              </a:spcAft>
              <a:defRPr sz="1900"/>
            </a:pPr>
            <a:r>
              <a:t>Compare performance to identify suitable models for tourism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Recommended Research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Benchmark Tourism Datasets → Data Cleaning → EDA → Feature Engineering → Feature Selection.</a:t>
            </a:r>
          </a:p>
          <a:p>
            <a:pPr>
              <a:spcAft>
                <a:spcPts val="800"/>
              </a:spcAft>
              <a:defRPr sz="1900"/>
            </a:pPr>
            <a:r>
              <a:t>Train-Test Split → Descriptive Models (K-Means, DBSCAN, Apriori).</a:t>
            </a:r>
          </a:p>
          <a:p>
            <a:pPr>
              <a:spcAft>
                <a:spcPts val="800"/>
              </a:spcAft>
              <a:defRPr sz="1900"/>
            </a:pPr>
            <a:r>
              <a:t>Predictive Models (ARIMA, SARIMA, Decision Tree, Random Forest, LSTM).</a:t>
            </a:r>
          </a:p>
          <a:p>
            <a:pPr>
              <a:spcAft>
                <a:spcPts val="800"/>
              </a:spcAft>
              <a:defRPr sz="1900"/>
            </a:pPr>
            <a:r>
              <a:t>Performance Evaluation → Model Interpretability → Dashboard.</a:t>
            </a:r>
          </a:p>
          <a:p>
            <a:pPr>
              <a:spcAft>
                <a:spcPts val="800"/>
              </a:spcAft>
              <a:defRPr sz="1900"/>
            </a:pPr>
            <a:r>
              <a:t>Comparative Analysis → Research Conclusions &amp; Recommendations.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Identify important tourism trends and seasonal patterns.</a:t>
            </a:r>
          </a:p>
          <a:p>
            <a:pPr>
              <a:spcAft>
                <a:spcPts val="800"/>
              </a:spcAft>
              <a:defRPr sz="1900"/>
            </a:pPr>
            <a:r>
              <a:t>Discover tourist segments and travel preferences.</a:t>
            </a:r>
          </a:p>
          <a:p>
            <a:pPr>
              <a:spcAft>
                <a:spcPts val="800"/>
              </a:spcAft>
              <a:defRPr sz="1900"/>
            </a:pPr>
            <a:r>
              <a:t>Forecast future tourist arrivals and demand.</a:t>
            </a:r>
          </a:p>
          <a:p>
            <a:pPr>
              <a:spcAft>
                <a:spcPts val="800"/>
              </a:spcAft>
              <a:defRPr sz="1900"/>
            </a:pPr>
            <a:r>
              <a:t>Predict booking behaviour and cancellations.</a:t>
            </a:r>
          </a:p>
          <a:p>
            <a:pPr>
              <a:spcAft>
                <a:spcPts val="800"/>
              </a:spcAft>
              <a:defRPr sz="1900"/>
            </a:pPr>
            <a:r>
              <a:t>Identify key factors influencing tourism demand and cancellations.</a:t>
            </a:r>
          </a:p>
          <a:p>
            <a:pPr>
              <a:spcAft>
                <a:spcPts val="800"/>
              </a:spcAft>
              <a:defRPr sz="1900"/>
            </a:pPr>
            <a:r>
              <a:t>Provide visual insights and recommendations for stakeholders.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900"/>
            </a:pPr>
            <a:r>
              <a:t>The project provides a holistic framework combining descriptive and predictive data mining.</a:t>
            </a:r>
          </a:p>
          <a:p>
            <a:pPr>
              <a:spcAft>
                <a:spcPts val="800"/>
              </a:spcAft>
              <a:defRPr sz="1900"/>
            </a:pPr>
            <a:r>
              <a:t>Descriptive analytics explains historical tourism behaviour and patterns.</a:t>
            </a:r>
          </a:p>
          <a:p>
            <a:pPr>
              <a:spcAft>
                <a:spcPts val="800"/>
              </a:spcAft>
              <a:defRPr sz="1900"/>
            </a:pPr>
            <a:r>
              <a:t>Predictive analytics anticipates future demand and tourism trends.</a:t>
            </a:r>
          </a:p>
          <a:p>
            <a:pPr>
              <a:spcAft>
                <a:spcPts val="800"/>
              </a:spcAft>
              <a:defRPr sz="1900"/>
            </a:pPr>
            <a:r>
              <a:t>Model comparison and explainability improve confidence in analytical results.</a:t>
            </a:r>
          </a:p>
          <a:p>
            <a:pPr>
              <a:spcAft>
                <a:spcPts val="800"/>
              </a:spcAft>
              <a:defRPr sz="1900"/>
            </a:pPr>
            <a:r>
              <a:t>The dashboard can support evidence-based tourism planning and management.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Tourism Analytics Using Predictive and Descriptive Data Mining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732</Words>
  <Application>Microsoft Office PowerPoint</Application>
  <PresentationFormat>Widescreen</PresentationFormat>
  <Paragraphs>78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Tourism Analytics Using Predictive and Descriptive Data Mining Techniques</vt:lpstr>
      <vt:lpstr>1. Domain &amp; Problem Statement</vt:lpstr>
      <vt:lpstr>2. Project Objectives</vt:lpstr>
      <vt:lpstr>3. Benchmark Tourism Datasets</vt:lpstr>
      <vt:lpstr>4. Data Preprocessing</vt:lpstr>
      <vt:lpstr>5. Exploratory Data Analysis (EDA)</vt:lpstr>
      <vt:lpstr>6. Descriptive Data Mining Models</vt:lpstr>
      <vt:lpstr>7. Predictive Data Mining Models</vt:lpstr>
      <vt:lpstr>8. Explainability &amp; Visualization</vt:lpstr>
      <vt:lpstr>9. Comparative Analysis &amp; Evaluation</vt:lpstr>
      <vt:lpstr>10. Recommended Research Pipeline</vt:lpstr>
      <vt:lpstr>11. Expected Outcomes</vt:lpstr>
      <vt:lpstr>12. 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lakshmi keertana</cp:lastModifiedBy>
  <cp:revision>2</cp:revision>
  <dcterms:created xsi:type="dcterms:W3CDTF">2013-01-27T09:14:16Z</dcterms:created>
  <dcterms:modified xsi:type="dcterms:W3CDTF">2026-08-10T12:05:27Z</dcterms:modified>
  <cp:category/>
</cp:coreProperties>
</file>