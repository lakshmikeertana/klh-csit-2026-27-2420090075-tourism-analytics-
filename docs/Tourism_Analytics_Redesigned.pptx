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563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B4B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778240" y="914400"/>
            <a:ext cx="2926080" cy="2926080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692640" y="3566160"/>
            <a:ext cx="1737360" cy="173736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4 · CAPSTONE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Analytics Using Predictive and Descriptive Data Mining Techniques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20116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Dr. K. Swapnika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Hasini — 2420030421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Rishitha — 2420090060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Keertana — 2420090075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6858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 </a:t>
            </a: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 Analytics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demand is highly volatile due to seasonal variations, socio-economic factors, and global disruptions.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statistical methods may not capture complex tourism patterns effectively.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combines descriptive analytics to explain the past with predictive analytics to anticipate the future.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394960"/>
            <a:ext cx="11094415" cy="777240"/>
          </a:xfrm>
          <a:prstGeom prst="rect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5394960"/>
            <a:ext cx="10545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smarter, data-driven tourism planning and management.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Analytics — Data Mining Techniques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965960"/>
            <a:ext cx="457200" cy="457200"/>
          </a:xfrm>
          <a:prstGeom prst="ellipse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92808"/>
            <a:ext cx="43584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tourism data to identify patterns, trends, and relationships.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64328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79896" y="1965960"/>
            <a:ext cx="457200" cy="457200"/>
          </a:xfrm>
          <a:prstGeom prst="ellipse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79896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01688" y="1892808"/>
            <a:ext cx="43584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descriptive data mining for tourist segmentation and association discovery.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364328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49808" y="3383280"/>
            <a:ext cx="457200" cy="457200"/>
          </a:xfrm>
          <a:prstGeom prst="ellipse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49808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310128"/>
            <a:ext cx="43584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predictive models for tourism demand, arrivals, booking behaviour, and cancellations.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8728" y="3200400"/>
            <a:ext cx="5364328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79896" y="3383280"/>
            <a:ext cx="457200" cy="457200"/>
          </a:xfrm>
          <a:prstGeom prst="ellipse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79896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01688" y="3310128"/>
            <a:ext cx="43584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compare multiple models using suitable metrics.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364328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49808" y="4800600"/>
            <a:ext cx="457200" cy="457200"/>
          </a:xfrm>
          <a:prstGeom prst="ellipse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49808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727448"/>
            <a:ext cx="43584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interpretable results using SHAP, feature importance, plots, and dashboards.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78728" y="4617720"/>
            <a:ext cx="5364328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79896" y="4800600"/>
            <a:ext cx="457200" cy="457200"/>
          </a:xfrm>
          <a:prstGeom prst="ellipse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79896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01688" y="4727448"/>
            <a:ext cx="43584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insights for tourism stakeholders.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Analytics — Data Mining Techniques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67665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10088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and inconsistent records.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11094415" cy="6766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77240" y="2670048"/>
            <a:ext cx="502920" cy="502920"/>
          </a:xfrm>
          <a:prstGeom prst="ellipse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624328"/>
            <a:ext cx="10088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attributes such as country, market segment, room type, and distribution channel.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4415" cy="67665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77240" y="3511296"/>
            <a:ext cx="502920" cy="502920"/>
          </a:xfrm>
          <a:prstGeom prst="ellipse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3511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465576"/>
            <a:ext cx="10088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normalization / scaling where required.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11094415" cy="6766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4352544"/>
            <a:ext cx="502920" cy="502920"/>
          </a:xfrm>
          <a:prstGeom prst="ellipse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4352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306824"/>
            <a:ext cx="10088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month, season, holidays, and weekend features from dates.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193792"/>
            <a:ext cx="11094415" cy="67665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77240" y="5193792"/>
            <a:ext cx="502920" cy="502920"/>
          </a:xfrm>
          <a:prstGeom prst="ellipse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5193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5148072"/>
            <a:ext cx="10088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time-series resampling and stationarity checks for ARIMA/SARIMA.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Analytics — Data Mining Techniques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MODELLING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Data Mining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5258" cy="2651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05805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segmentation based on demographics and preferences.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8218" y="1783080"/>
            <a:ext cx="3515258" cy="2651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66818" y="2103120"/>
            <a:ext cx="548640" cy="548640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66818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66818" y="2788920"/>
            <a:ext cx="305805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66818" y="333756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segmentation for irregular travel clusters.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7797" y="1783080"/>
            <a:ext cx="3515258" cy="265176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56397" y="2103120"/>
            <a:ext cx="548640" cy="548640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56397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56397" y="2788920"/>
            <a:ext cx="305805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Algorithm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56397" y="333756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 for travel package combinations.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94415" cy="777240"/>
          </a:xfrm>
          <a:prstGeom prst="rect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22960" y="4709160"/>
            <a:ext cx="10545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historical patterns, groups, preferences, and relationships.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Analytics — Data Mining Techniques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MODELLING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Data Mining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7864" cy="32918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58252" y="2103120"/>
            <a:ext cx="548640" cy="548640"/>
          </a:xfrm>
          <a:prstGeom prst="ellipse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558252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834640"/>
            <a:ext cx="223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/ SARIMA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2021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tourist arrivals.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90824" y="1783080"/>
            <a:ext cx="2567864" cy="32918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400436" y="2103120"/>
            <a:ext cx="548640" cy="548640"/>
          </a:xfrm>
          <a:prstGeom prst="ellipse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00436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55416" y="2834640"/>
            <a:ext cx="223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73704" y="3520440"/>
            <a:ext cx="22021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booking behaviour and cancellations.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3008" y="1783080"/>
            <a:ext cx="2567864" cy="32918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242620" y="2103120"/>
            <a:ext cx="548640" cy="548640"/>
          </a:xfrm>
          <a:prstGeom prst="ellipse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2426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97600" y="2834640"/>
            <a:ext cx="223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15888" y="3520440"/>
            <a:ext cx="22021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prediction of booking behaviour and cancellations.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75191" y="1783080"/>
            <a:ext cx="2567864" cy="32918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084803" y="2103120"/>
            <a:ext cx="548640" cy="548640"/>
          </a:xfrm>
          <a:prstGeom prst="ellipse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084803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39783" y="2834640"/>
            <a:ext cx="223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Neural Network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58071" y="3520440"/>
            <a:ext cx="22021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complex, non-linear seasonal demand patterns.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94415" cy="777240"/>
          </a:xfrm>
          <a:prstGeom prst="rect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future demand, arrivals, and booking outcomes.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Analytics — Data Mining Techniques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8431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Topic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Tourism demand forecasting with multi-source data using hybrid ML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Springer, 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Two-layer multivariate decomposition for spatiotemporal tourism demand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Springer, 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SeqPatTour: sequential patterns for tourism behavior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Springer, 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models for tourism demand prediction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IEEE, 2024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data analytics in smart tourism ecosystems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ACM, 2024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ARIMA-LSTM models for seasonal tourism forecasting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IEEE, 2023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Association rule mining for travel package personalization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Springer, 2023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approaches for tourist cancellation prediction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ACM, 2023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networks for hotel occupancy forecasting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IEEE, 2022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mining in cultural heritage tourism analytics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2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Springer, 2022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Analytics — Data Mining Techniques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Identification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64328" cy="15544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41756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studies integrate descriptive + predictive mining in one framework.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1920240"/>
            <a:ext cx="5364328" cy="15544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553048" y="219456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53048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38848" y="2057400"/>
            <a:ext cx="41756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focus on real-time analytics for dynamic decision-making.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364328" cy="15544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886200"/>
            <a:ext cx="41756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alignment with sustainability and SDGs.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8728" y="3749040"/>
            <a:ext cx="5364328" cy="15544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553048" y="402336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53048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38848" y="3886200"/>
            <a:ext cx="41756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models incorporating multi-factor influences (weather, global events, socio-economic trends).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Analytics — Data Mining Techniques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VALUE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64328" cy="1554480"/>
          </a:xfrm>
          <a:prstGeom prst="rect">
            <a:avLst/>
          </a:prstGeom>
          <a:solidFill>
            <a:srgbClr val="1B4B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2121408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42670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framework combining descriptive (clustering, association rules) and predictive (LSTM, Random Forest) techniques.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8728" y="1920240"/>
            <a:ext cx="5364328" cy="1554480"/>
          </a:xfrm>
          <a:prstGeom prst="rect">
            <a:avLst/>
          </a:prstGeom>
          <a:solidFill>
            <a:srgbClr val="1B4B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534760" y="2121408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3476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47408" y="2057400"/>
            <a:ext cx="42670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sustainability metrics into tourism analytics.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364328" cy="1554480"/>
          </a:xfrm>
          <a:prstGeom prst="rect">
            <a:avLst/>
          </a:prstGeom>
          <a:solidFill>
            <a:srgbClr val="1B4B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04672" y="3950208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4672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886200"/>
            <a:ext cx="42670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for stakeholders.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78728" y="3749040"/>
            <a:ext cx="5364328" cy="1554480"/>
          </a:xfrm>
          <a:prstGeom prst="rect">
            <a:avLst/>
          </a:prstGeom>
          <a:solidFill>
            <a:srgbClr val="1B4B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534760" y="3950208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34760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47408" y="3886200"/>
            <a:ext cx="42670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adaptive forecasting using multi-source data.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Analytics — Data Mining Techniques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PLANNING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7864" cy="3200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39964" y="2148840"/>
            <a:ext cx="585216" cy="585216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539964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293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22021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boards, hotels, government datasets.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90824" y="1828800"/>
            <a:ext cx="2567864" cy="3200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382148" y="2148840"/>
            <a:ext cx="585216" cy="585216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82148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27984" y="2926080"/>
            <a:ext cx="2293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73704" y="3520440"/>
            <a:ext cx="22021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R, Tableau, Power BI, ML libraries (Scikit-Learn, TensorFlow).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3008" y="1828800"/>
            <a:ext cx="2567864" cy="3200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224332" y="2148840"/>
            <a:ext cx="585216" cy="585216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224332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70168" y="2926080"/>
            <a:ext cx="2293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15888" y="3520440"/>
            <a:ext cx="22021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computing resources; cloud platforms feasible.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75191" y="1828800"/>
            <a:ext cx="2567864" cy="3200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066515" y="2148840"/>
            <a:ext cx="585216" cy="585216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066515" y="21488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12351" y="2926080"/>
            <a:ext cx="2293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58071" y="3520440"/>
            <a:ext cx="22021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feasibility due to accessible datasets and tools.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Analytics — Data Mining Techniques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— Phases 1 to 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5258" cy="42062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15258" cy="868680"/>
          </a:xfrm>
          <a:prstGeom prst="rect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1494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 Preparation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05805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clean tourism datasets (arrivals, occupancy, spending, external factors).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8218" y="1783080"/>
            <a:ext cx="3515258" cy="42062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338218" y="1783080"/>
            <a:ext cx="3515258" cy="86868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21098" y="1783080"/>
            <a:ext cx="31494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Descriptive Analytics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66818" y="2834640"/>
            <a:ext cx="305805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clustering (K-Means, DBSCAN).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association rule mining (Apriori).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trend analysis and visualization.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7797" y="1783080"/>
            <a:ext cx="3515258" cy="42062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127797" y="1783080"/>
            <a:ext cx="3515258" cy="868680"/>
          </a:xfrm>
          <a:prstGeom prst="rect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310677" y="1783080"/>
            <a:ext cx="31494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Predictive Modeling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56397" y="2834640"/>
            <a:ext cx="305805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regression models (ARIMA, SARIMA).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decision trees and random forest for booking behavior.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LSTM neural networks for seasonal demand forecasting.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Analytics — Data Mining Techniques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— Phases 4 to 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5258" cy="42062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15258" cy="868680"/>
          </a:xfrm>
          <a:prstGeom prst="rect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1494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Evaluation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05805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using RMSE, MAE, and accuracy metrics.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8218" y="1783080"/>
            <a:ext cx="3515258" cy="42062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338218" y="1783080"/>
            <a:ext cx="3515258" cy="868680"/>
          </a:xfrm>
          <a:prstGeom prst="rect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21098" y="1783080"/>
            <a:ext cx="31494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Deployment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66818" y="2834640"/>
            <a:ext cx="305805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dashboards in Tableau / Power BI / Streamlit.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7797" y="1783080"/>
            <a:ext cx="3515258" cy="42062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127797" y="1783080"/>
            <a:ext cx="3515258" cy="86868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310677" y="1783080"/>
            <a:ext cx="31494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Insights &amp; Recommendations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56397" y="2834640"/>
            <a:ext cx="305805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strategies for marketing, resource allocation, and infrastructure planning.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Analytics — Data Mining Techniques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—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36003" cy="640080"/>
          </a:xfrm>
          <a:prstGeom prst="rect">
            <a:avLst/>
          </a:prstGeom>
          <a:solidFill>
            <a:srgbClr val="B553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85312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036003" cy="23774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1761683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tourism forecasting using descriptive &amp; predictive analytics.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13243" y="1920240"/>
            <a:ext cx="2036003" cy="640080"/>
          </a:xfrm>
          <a:prstGeom prst="rect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904683" y="1920240"/>
            <a:ext cx="185312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813243" y="2606040"/>
            <a:ext cx="2036003" cy="23774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950403" y="2697480"/>
            <a:ext cx="1761683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tourists &amp; predict arrivals.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77846" y="1920240"/>
            <a:ext cx="2036003" cy="640080"/>
          </a:xfrm>
          <a:prstGeom prst="rect">
            <a:avLst/>
          </a:prstGeom>
          <a:solidFill>
            <a:srgbClr val="C786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69286" y="1920240"/>
            <a:ext cx="185312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77846" y="2606040"/>
            <a:ext cx="2036003" cy="23774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215006" y="2697480"/>
            <a:ext cx="1761683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models with ML &amp; Deep Learning.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42449" y="1920240"/>
            <a:ext cx="2036003" cy="640080"/>
          </a:xfrm>
          <a:prstGeom prst="rect">
            <a:avLst/>
          </a:prstGeom>
          <a:solidFill>
            <a:srgbClr val="3C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33889" y="1920240"/>
            <a:ext cx="185312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42449" y="2606040"/>
            <a:ext cx="2036003" cy="23774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479609" y="2697480"/>
            <a:ext cx="1761683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availability &amp; cost-effective tools.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07052" y="1920240"/>
            <a:ext cx="2036003" cy="640080"/>
          </a:xfrm>
          <a:prstGeom prst="rect">
            <a:avLst/>
          </a:prstGeom>
          <a:solidFill>
            <a:srgbClr val="0F2A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698492" y="1920240"/>
            <a:ext cx="185312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607052" y="2606040"/>
            <a:ext cx="2036003" cy="23774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744212" y="2697480"/>
            <a:ext cx="1761683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 · Analytics · Modeling · Dashboard.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1094415" cy="0"/>
          </a:xfrm>
          <a:prstGeom prst="line">
            <a:avLst/>
          </a:prstGeom>
          <a:noFill/>
          <a:ln w="12700">
            <a:solidFill>
              <a:srgbClr val="D8DE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55321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analytics pipeline moving from problem definition through data-driven modelling to deployment-ready dashboards.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Analytics — Data Mining Techniques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2148840"/>
            <a:ext cx="411480" cy="411480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892808"/>
            <a:ext cx="440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important tourism trends and seasonal patterns.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64328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79896" y="2148840"/>
            <a:ext cx="411480" cy="411480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79896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55968" y="1892808"/>
            <a:ext cx="440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tourist segments and travel preferences.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364328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49808" y="3566160"/>
            <a:ext cx="411480" cy="411480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49808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310128"/>
            <a:ext cx="440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future tourist arrivals and demand.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8728" y="3200400"/>
            <a:ext cx="5364328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79896" y="3566160"/>
            <a:ext cx="411480" cy="411480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79896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55968" y="3310128"/>
            <a:ext cx="440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booking behaviour and cancellations.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364328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49808" y="4983480"/>
            <a:ext cx="411480" cy="411480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49808" y="4983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4727448"/>
            <a:ext cx="440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factors influencing tourism demand and cancellations.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78728" y="4617720"/>
            <a:ext cx="5364328" cy="1188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79896" y="4983480"/>
            <a:ext cx="411480" cy="411480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79896" y="4983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55968" y="4727448"/>
            <a:ext cx="4404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visual insights and recommendations for stakeholders.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Analytics — Data Mining Techniques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CLOSING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42062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5840" y="2103120"/>
            <a:ext cx="10180015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provides a holistic framework combining descriptive and predictive data mining.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analytics explains historical tourism behaviour and patterns.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anticipates future demand and tourism trends.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and explainability improve confidence in analytical results.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can support evidence-based tourism planning and management.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Analytics — Data Mining Techniques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3200400" cy="3200400"/>
          </a:xfrm>
          <a:prstGeom prst="ellipse">
            <a:avLst/>
          </a:prstGeom>
          <a:solidFill>
            <a:srgbClr val="1B4B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180015" y="4846320"/>
            <a:ext cx="2743200" cy="2743200"/>
          </a:xfrm>
          <a:prstGeom prst="ellipse">
            <a:avLst/>
          </a:prstGeom>
          <a:solidFill>
            <a:srgbClr val="1B7F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1600" y="361188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Analytics Using Predictive and Descriptive Data Mining Techniques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1068</Words>
  <Application>Microsoft Office PowerPoint</Application>
  <PresentationFormat>Widescreen</PresentationFormat>
  <Paragraphs>224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gldhasini@gmail.com</cp:lastModifiedBy>
  <cp:revision>2</cp:revision>
  <dcterms:created xsi:type="dcterms:W3CDTF">2026-08-12T04:11:47Z</dcterms:created>
  <dcterms:modified xsi:type="dcterms:W3CDTF">2026-08-12T04:14:43Z</dcterms:modified>
</cp:coreProperties>
</file>